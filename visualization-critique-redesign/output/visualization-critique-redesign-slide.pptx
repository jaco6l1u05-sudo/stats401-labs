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3f8ed4695c4eeb" /><Relationship Type="http://schemas.openxmlformats.org/officeDocument/2006/relationships/extended-properties" Target="/docProps/app.xml" Id="Rc377d51564fd43bb" /><Relationship Type="http://schemas.openxmlformats.org/officeDocument/2006/relationships/officeDocument" Target="/ppt/presentation.xml" Id="Rc031addb8a874429" /></Relationships>
</file>

<file path=ppt/presentation.xml><?xml version="1.0" encoding="utf-8"?>
<p:presentation xmlns:p="http://schemas.openxmlformats.org/presentationml/2006/main">
  <p:sldMasterIdLst>
    <p:sldMasterId xmlns:r="http://schemas.openxmlformats.org/officeDocument/2006/relationships" id="2147483648" r:id="R7a1087c48a394624"/>
  </p:sldMasterIdLst>
  <p:notesMasterIdLst>
    <p:notesMasterId xmlns:r="http://schemas.openxmlformats.org/officeDocument/2006/relationships" r:id="R7350f6494ff74c8b"/>
  </p:notesMasterIdLst>
  <p:sldIdLst>
    <p:sldId xmlns:r="http://schemas.openxmlformats.org/officeDocument/2006/relationships" id="256" r:id="R10e029f703ea45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1b09efb2b54f1a" /><Relationship Type="http://schemas.openxmlformats.org/officeDocument/2006/relationships/slideMaster" Target="/ppt/slideMasters/slideMaster1.xml" Id="R7a1087c48a394624" /><Relationship Type="http://schemas.openxmlformats.org/officeDocument/2006/relationships/notesMaster" Target="/ppt/notesMasters/notesMaster1.xml" Id="R7350f6494ff74c8b" /><Relationship Type="http://schemas.openxmlformats.org/officeDocument/2006/relationships/presProps" Target="/ppt/presProps.xml" Id="R88d7cca8b2cd4fe5" /><Relationship Type="http://schemas.openxmlformats.org/officeDocument/2006/relationships/tableStyles" Target="/ppt/tableStyles.xml" Id="R148ef7ce4a1f48ec" /><Relationship Type="http://schemas.openxmlformats.org/officeDocument/2006/relationships/slide" Target="/ppt/slides/slide1.xml" Id="R10e029f703ea45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8129b353440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266eb7e28547cf" /><Relationship Type="http://schemas.openxmlformats.org/officeDocument/2006/relationships/notesMaster" Target="/ppt/notesMasters/notesMaster1.xml" Id="Rbdf80e99fd0a4f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Our World in Data scatterplot compares inequality before and after taxes and transfers. Its shared scales and equality line are useful, but the main question is harder than it needs to be: how much does inequality fall in each country? The viewer must estimate diagonal distance, many countries are not labeled, and region colors compete with that comparison.</a:t>
            </a:r>
          </a:p>
          <a:p xmlns:a="http://schemas.openxmlformats.org/drawingml/2006/main">
            <a:r>
              <a:t/>
            </a:r>
          </a:p>
          <a:p xmlns:a="http://schemas.openxmlformats.org/drawingml/2006/main">
            <a:r>
              <a:t>My redesign uses a dumbbell plot. Each country has two points on the same Gini scale, and the connector directly shows the reduction. Every country is labeled, the list can be sorted or filtered, and the tooltip reports the actual observation year because the source combines data from 2011 to 2020. The redesign takes more vertical space, but it makes ranking countries and comparing before-and-after values much faster and more precise.</a:t>
            </a:r>
          </a:p>
          <a:p xmlns:a="http://schemas.openxmlformats.org/drawingml/2006/main">
            <a:r>
              <a:t/>
            </a:r>
          </a:p>
          <a:p xmlns:a="http://schemas.openxmlformats.org/drawingml/2006/main">
            <a:r>
              <a:t>Sources: https://ourworldindata.org/grapher/income-inequality-in-market-and-disposable-income-across-the-world; Wang, Caminada, and Solt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8e781cd57d4e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a0faf050d64cc8" /><Relationship Type="http://schemas.openxmlformats.org/officeDocument/2006/relationships/slideLayout" Target="/ppt/slideLayouts/slideLayout1.xml" Id="Rc4a91b805c8b4a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a91b805c8b4a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c74cc18a9d4682" /><Relationship Type="http://schemas.openxmlformats.org/officeDocument/2006/relationships/image" Target="/ppt/media/image.png" Id="Rc445db7047164251" /><Relationship Type="http://schemas.openxmlformats.org/officeDocument/2006/relationships/notesSlide" Target="/ppt/notesSlides/notesSlide1.xml" Id="Rc4926a29084e4749" /></Relationships>
</file>

<file path=ppt/slides/slide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968DEA6-6777-4C46-93F9-6E79DDCFF2AF}"/>
              </a:ext>
            </a:extLst>
          </p:cNvPr>
          <p:cNvSpPr>
            <a:spLocks xmlns:a="http://schemas.openxmlformats.org/drawingml/2006/main" noGrp="1"/>
          </p:cNvSpPr>
          <p:nvPr/>
        </p:nvSpPr>
        <p:spPr>
          <a:xfrm xmlns:a="http://schemas.openxmlformats.org/drawingml/2006/main">
            <a:off x="552450" y="2381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DD6B4D"/>
                </a:solidFill>
                <a:latin typeface="Arial"/>
                <a:ea typeface="Arial"/>
                <a:cs typeface="Arial"/>
              </a:defRPr>
            </a:pPr>
            <a:r>
              <a:rPr sz="900" b="1">
                <a:solidFill>
                  <a:srgbClr val="DD6B4D"/>
                </a:solidFill>
                <a:latin typeface="Arial"/>
                <a:ea typeface="Arial"/>
                <a:cs typeface="Arial"/>
              </a:rPr>
              <a:t>STATS 401  INDIVIDUAL PROJECT</a:t>
            </a:r>
          </a:p>
        </p:txBody>
      </p:sp>
      <p:sp>
        <p:nvSpPr>
          <p:cNvPr id="2" name="">
            <a:extLst xmlns:a="http://schemas.openxmlformats.org/drawingml/2006/main">
              <a:ext uri="{FF2B5EF4-FFF2-40B4-BE49-F238E27FC236}">
                <a16:creationId xmlns:a16="http://schemas.microsoft.com/office/drawing/2014/main" id="{5299D583-84EB-48F7-B6C7-89B17AF55AB5}"/>
              </a:ext>
            </a:extLst>
          </p:cNvPr>
          <p:cNvSpPr>
            <a:spLocks xmlns:a="http://schemas.openxmlformats.org/drawingml/2006/main" noGrp="1"/>
          </p:cNvSpPr>
          <p:nvPr/>
        </p:nvSpPr>
        <p:spPr>
          <a:xfrm xmlns:a="http://schemas.openxmlformats.org/drawingml/2006/main">
            <a:off x="552450" y="523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50"/>
          </a:bodyPr>
          <a:lstStyle xmlns:a="http://schemas.openxmlformats.org/drawingml/2006/main"/>
          <a:p xmlns:a="http://schemas.openxmlformats.org/drawingml/2006/main">
            <a:pPr>
              <a:defRPr sz="2775" b="1">
                <a:solidFill>
                  <a:srgbClr val="17252A"/>
                </a:solidFill>
                <a:latin typeface="Georgia"/>
                <a:ea typeface="Georgia"/>
                <a:cs typeface="Georgia"/>
              </a:defRPr>
            </a:pPr>
            <a:r>
              <a:rPr sz="2775" b="1">
                <a:solidFill>
                  <a:srgbClr val="17252A"/>
                </a:solidFill>
                <a:latin typeface="Georgia"/>
                <a:ea typeface="Georgia"/>
                <a:cs typeface="Georgia"/>
              </a:rPr>
              <a:t>Aligned values make the redistribution gap easier to compare</a:t>
            </a:r>
          </a:p>
        </p:txBody>
      </p:sp>
      <p:sp>
        <p:nvSpPr>
          <p:cNvPr id="3" name="">
            <a:extLst xmlns:a="http://schemas.openxmlformats.org/drawingml/2006/main">
              <a:ext uri="{FF2B5EF4-FFF2-40B4-BE49-F238E27FC236}">
                <a16:creationId xmlns:a16="http://schemas.microsoft.com/office/drawing/2014/main" id="{4E8CAFD1-30A9-4209-8A97-B7AE3F5F15A7}"/>
              </a:ext>
            </a:extLst>
          </p:cNvPr>
          <p:cNvSpPr>
            <a:spLocks xmlns:a="http://schemas.openxmlformats.org/drawingml/2006/main" noGrp="1"/>
          </p:cNvSpPr>
          <p:nvPr/>
        </p:nvSpPr>
        <p:spPr>
          <a:xfrm xmlns:a="http://schemas.openxmlformats.org/drawingml/2006/main">
            <a:off x="552450" y="11049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0">
                <a:solidFill>
                  <a:srgbClr val="607077"/>
                </a:solidFill>
                <a:latin typeface="Arial"/>
                <a:ea typeface="Arial"/>
                <a:cs typeface="Arial"/>
              </a:defRPr>
            </a:pPr>
            <a:r>
              <a:rPr sz="1350" b="0">
                <a:solidFill>
                  <a:srgbClr val="607077"/>
                </a:solidFill>
                <a:latin typeface="Arial"/>
                <a:ea typeface="Arial"/>
                <a:cs typeface="Arial"/>
              </a:rPr>
              <a:t>Income inequality before and after taxes and transfers</a:t>
            </a:r>
          </a:p>
        </p:txBody>
      </p:sp>
      <p:sp>
        <p:nvSpPr>
          <p:cNvPr id="4" name="">
            <a:extLst xmlns:a="http://schemas.openxmlformats.org/drawingml/2006/main">
              <a:ext uri="{FF2B5EF4-FFF2-40B4-BE49-F238E27FC236}">
                <a16:creationId xmlns:a16="http://schemas.microsoft.com/office/drawing/2014/main" id="{6E2176CC-B1F6-492C-8C1E-549F6A2A0659}"/>
              </a:ext>
            </a:extLst>
          </p:cNvPr>
          <p:cNvSpPr>
            <a:spLocks xmlns:a="http://schemas.openxmlformats.org/drawingml/2006/main" noGrp="1"/>
          </p:cNvSpPr>
          <p:nvPr/>
        </p:nvSpPr>
        <p:spPr>
          <a:xfrm xmlns:a="http://schemas.openxmlformats.org/drawingml/2006/main">
            <a:off x="552450" y="15049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DD6B4D"/>
                </a:solidFill>
                <a:latin typeface="Arial"/>
                <a:ea typeface="Arial"/>
                <a:cs typeface="Arial"/>
              </a:defRPr>
            </a:pPr>
            <a:r>
              <a:rPr sz="900" b="1">
                <a:solidFill>
                  <a:srgbClr val="DD6B4D"/>
                </a:solidFill>
                <a:latin typeface="Arial"/>
                <a:ea typeface="Arial"/>
                <a:cs typeface="Arial"/>
              </a:rPr>
              <a:t>ORIGINAL</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c445db7047164251"/>
          <a:stretch xmlns:a="http://schemas.openxmlformats.org/drawingml/2006/main"/>
        </p:blipFill>
        <p:spPr>
          <a:xfrm xmlns:a="http://schemas.openxmlformats.org/drawingml/2006/main">
            <a:off x="552450" y="1762405"/>
            <a:ext cx="4762500" cy="33617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0977AB-E40C-4239-8FA7-DC02A9F091A4}"/>
              </a:ext>
            </a:extLst>
          </p:cNvPr>
          <p:cNvSpPr>
            <a:spLocks xmlns:a="http://schemas.openxmlformats.org/drawingml/2006/main" noGrp="1"/>
          </p:cNvSpPr>
          <p:nvPr/>
        </p:nvSpPr>
        <p:spPr>
          <a:xfrm xmlns:a="http://schemas.openxmlformats.org/drawingml/2006/main">
            <a:off x="5905500" y="1504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138A86"/>
                </a:solidFill>
                <a:latin typeface="Arial"/>
                <a:ea typeface="Arial"/>
                <a:cs typeface="Arial"/>
              </a:defRPr>
            </a:pPr>
            <a:r>
              <a:rPr sz="900" b="1">
                <a:solidFill>
                  <a:srgbClr val="138A86"/>
                </a:solidFill>
                <a:latin typeface="Arial"/>
                <a:ea typeface="Arial"/>
                <a:cs typeface="Arial"/>
              </a:rPr>
              <a:t>REDESIGN  TOP EIGHT ABSOLUTE REDUCTIONS</a:t>
            </a:r>
          </a:p>
        </p:txBody>
      </p:sp>
      <p:sp>
        <p:nvSpPr>
          <p:cNvPr id="7" name="">
            <a:extLst xmlns:a="http://schemas.openxmlformats.org/drawingml/2006/main">
              <a:ext uri="{FF2B5EF4-FFF2-40B4-BE49-F238E27FC236}">
                <a16:creationId xmlns:a16="http://schemas.microsoft.com/office/drawing/2014/main" id="{99545396-2A0D-49BE-9105-81AFB8EE2214}"/>
              </a:ext>
            </a:extLst>
          </p:cNvPr>
          <p:cNvSpPr>
            <a:spLocks xmlns:a="http://schemas.openxmlformats.org/drawingml/2006/main" noGrp="1"/>
          </p:cNvSpPr>
          <p:nvPr/>
        </p:nvSpPr>
        <p:spPr>
          <a:xfrm xmlns:a="http://schemas.openxmlformats.org/drawingml/2006/main">
            <a:off x="7334250" y="2028825"/>
            <a:ext cx="9525" cy="2857500"/>
          </a:xfrm>
          <a:prstGeom xmlns:a="http://schemas.openxmlformats.org/drawingml/2006/main" prst="rect">
            <a:avLst/>
          </a:prstGeom>
          <a:solidFill xmlns:a="http://schemas.openxmlformats.org/drawingml/2006/main">
            <a:srgbClr val="E3E9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6A6EDF-26C0-4EB0-8EA4-A785E4FE0715}"/>
              </a:ext>
            </a:extLst>
          </p:cNvPr>
          <p:cNvSpPr>
            <a:spLocks xmlns:a="http://schemas.openxmlformats.org/drawingml/2006/main" noGrp="1"/>
          </p:cNvSpPr>
          <p:nvPr/>
        </p:nvSpPr>
        <p:spPr>
          <a:xfrm xmlns:a="http://schemas.openxmlformats.org/drawingml/2006/main">
            <a:off x="7162800" y="179070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07077"/>
                </a:solidFill>
                <a:latin typeface="Arial"/>
                <a:ea typeface="Arial"/>
                <a:cs typeface="Arial"/>
              </a:defRPr>
            </a:pPr>
            <a:r>
              <a:rPr sz="825" b="0">
                <a:solidFill>
                  <a:srgbClr val="60707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D38F244-54B9-4FEF-8B63-E3C43768F001}"/>
              </a:ext>
            </a:extLst>
          </p:cNvPr>
          <p:cNvSpPr>
            <a:spLocks xmlns:a="http://schemas.openxmlformats.org/drawingml/2006/main" noGrp="1"/>
          </p:cNvSpPr>
          <p:nvPr/>
        </p:nvSpPr>
        <p:spPr>
          <a:xfrm xmlns:a="http://schemas.openxmlformats.org/drawingml/2006/main">
            <a:off x="8504464" y="2028825"/>
            <a:ext cx="9525" cy="2857500"/>
          </a:xfrm>
          <a:prstGeom xmlns:a="http://schemas.openxmlformats.org/drawingml/2006/main" prst="rect">
            <a:avLst/>
          </a:prstGeom>
          <a:solidFill xmlns:a="http://schemas.openxmlformats.org/drawingml/2006/main">
            <a:srgbClr val="E3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0273CC-DC0B-4756-96F5-F4A7DFE59CA8}"/>
              </a:ext>
            </a:extLst>
          </p:cNvPr>
          <p:cNvSpPr>
            <a:spLocks xmlns:a="http://schemas.openxmlformats.org/drawingml/2006/main" noGrp="1"/>
          </p:cNvSpPr>
          <p:nvPr/>
        </p:nvSpPr>
        <p:spPr>
          <a:xfrm xmlns:a="http://schemas.openxmlformats.org/drawingml/2006/main">
            <a:off x="8333014" y="179070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07077"/>
                </a:solidFill>
                <a:latin typeface="Arial"/>
                <a:ea typeface="Arial"/>
                <a:cs typeface="Arial"/>
              </a:defRPr>
            </a:pPr>
            <a:r>
              <a:rPr sz="825" b="0">
                <a:solidFill>
                  <a:srgbClr val="607077"/>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DA64ACC-59F0-4B43-99A7-817EE1358FFA}"/>
              </a:ext>
            </a:extLst>
          </p:cNvPr>
          <p:cNvSpPr>
            <a:spLocks xmlns:a="http://schemas.openxmlformats.org/drawingml/2006/main" noGrp="1"/>
          </p:cNvSpPr>
          <p:nvPr/>
        </p:nvSpPr>
        <p:spPr>
          <a:xfrm xmlns:a="http://schemas.openxmlformats.org/drawingml/2006/main">
            <a:off x="9674679" y="2028825"/>
            <a:ext cx="9525" cy="2857500"/>
          </a:xfrm>
          <a:prstGeom xmlns:a="http://schemas.openxmlformats.org/drawingml/2006/main" prst="rect">
            <a:avLst/>
          </a:prstGeom>
          <a:solidFill xmlns:a="http://schemas.openxmlformats.org/drawingml/2006/main">
            <a:srgbClr val="E3E9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039D68-7DC1-4140-B721-0EBADE09A7BA}"/>
              </a:ext>
            </a:extLst>
          </p:cNvPr>
          <p:cNvSpPr>
            <a:spLocks xmlns:a="http://schemas.openxmlformats.org/drawingml/2006/main" noGrp="1"/>
          </p:cNvSpPr>
          <p:nvPr/>
        </p:nvSpPr>
        <p:spPr>
          <a:xfrm xmlns:a="http://schemas.openxmlformats.org/drawingml/2006/main">
            <a:off x="9503229" y="179070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07077"/>
                </a:solidFill>
                <a:latin typeface="Arial"/>
                <a:ea typeface="Arial"/>
                <a:cs typeface="Arial"/>
              </a:defRPr>
            </a:pPr>
            <a:r>
              <a:rPr sz="825" b="0">
                <a:solidFill>
                  <a:srgbClr val="607077"/>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A7D8951C-3D7A-4879-9915-90E1674CDBC9}"/>
              </a:ext>
            </a:extLst>
          </p:cNvPr>
          <p:cNvSpPr>
            <a:spLocks xmlns:a="http://schemas.openxmlformats.org/drawingml/2006/main" noGrp="1"/>
          </p:cNvSpPr>
          <p:nvPr/>
        </p:nvSpPr>
        <p:spPr>
          <a:xfrm xmlns:a="http://schemas.openxmlformats.org/drawingml/2006/main">
            <a:off x="10844893" y="2028825"/>
            <a:ext cx="9525" cy="2857500"/>
          </a:xfrm>
          <a:prstGeom xmlns:a="http://schemas.openxmlformats.org/drawingml/2006/main" prst="rect">
            <a:avLst/>
          </a:prstGeom>
          <a:solidFill xmlns:a="http://schemas.openxmlformats.org/drawingml/2006/main">
            <a:srgbClr val="E3E9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E1BFA6-59F6-4F18-A49A-5BF57B122603}"/>
              </a:ext>
            </a:extLst>
          </p:cNvPr>
          <p:cNvSpPr>
            <a:spLocks xmlns:a="http://schemas.openxmlformats.org/drawingml/2006/main" noGrp="1"/>
          </p:cNvSpPr>
          <p:nvPr/>
        </p:nvSpPr>
        <p:spPr>
          <a:xfrm xmlns:a="http://schemas.openxmlformats.org/drawingml/2006/main">
            <a:off x="10673443" y="179070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07077"/>
                </a:solidFill>
                <a:latin typeface="Arial"/>
                <a:ea typeface="Arial"/>
                <a:cs typeface="Arial"/>
              </a:defRPr>
            </a:pPr>
            <a:r>
              <a:rPr sz="825" b="0">
                <a:solidFill>
                  <a:srgbClr val="607077"/>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C16199E0-0CD5-4187-B853-44ECBC48F505}"/>
              </a:ext>
            </a:extLst>
          </p:cNvPr>
          <p:cNvSpPr>
            <a:spLocks xmlns:a="http://schemas.openxmlformats.org/drawingml/2006/main" noGrp="1"/>
          </p:cNvSpPr>
          <p:nvPr/>
        </p:nvSpPr>
        <p:spPr>
          <a:xfrm xmlns:a="http://schemas.openxmlformats.org/drawingml/2006/main">
            <a:off x="7334250" y="2019300"/>
            <a:ext cx="4095750" cy="9525"/>
          </a:xfrm>
          <a:prstGeom xmlns:a="http://schemas.openxmlformats.org/drawingml/2006/main" prst="rect">
            <a:avLst/>
          </a:prstGeom>
          <a:solidFill xmlns:a="http://schemas.openxmlformats.org/drawingml/2006/main">
            <a:srgbClr val="9EAAA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FA8EB7E-3A4A-4C2D-9037-4CF5E7B5DD8B}"/>
              </a:ext>
            </a:extLst>
          </p:cNvPr>
          <p:cNvSpPr>
            <a:spLocks xmlns:a="http://schemas.openxmlformats.org/drawingml/2006/main" noGrp="1"/>
          </p:cNvSpPr>
          <p:nvPr/>
        </p:nvSpPr>
        <p:spPr>
          <a:xfrm xmlns:a="http://schemas.openxmlformats.org/drawingml/2006/main">
            <a:off x="5905500" y="1790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607077"/>
                </a:solidFill>
                <a:latin typeface="Arial"/>
                <a:ea typeface="Arial"/>
                <a:cs typeface="Arial"/>
              </a:defRPr>
            </a:pPr>
            <a:r>
              <a:rPr sz="825" b="1">
                <a:solidFill>
                  <a:srgbClr val="607077"/>
                </a:solidFill>
                <a:latin typeface="Arial"/>
                <a:ea typeface="Arial"/>
                <a:cs typeface="Arial"/>
              </a:rPr>
              <a:t>Country</a:t>
            </a:r>
          </a:p>
        </p:txBody>
      </p:sp>
      <p:sp>
        <p:nvSpPr>
          <p:cNvPr id="17" name="">
            <a:extLst xmlns:a="http://schemas.openxmlformats.org/drawingml/2006/main">
              <a:ext uri="{FF2B5EF4-FFF2-40B4-BE49-F238E27FC236}">
                <a16:creationId xmlns:a16="http://schemas.microsoft.com/office/drawing/2014/main" id="{2DAEE8DD-42F5-49A0-9A6A-88DB4000D8B2}"/>
              </a:ext>
            </a:extLst>
          </p:cNvPr>
          <p:cNvSpPr>
            <a:spLocks xmlns:a="http://schemas.openxmlformats.org/drawingml/2006/main" noGrp="1"/>
          </p:cNvSpPr>
          <p:nvPr/>
        </p:nvSpPr>
        <p:spPr>
          <a:xfrm xmlns:a="http://schemas.openxmlformats.org/drawingml/2006/main">
            <a:off x="5905500" y="21526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Finland</a:t>
            </a:r>
          </a:p>
        </p:txBody>
      </p:sp>
      <p:sp>
        <p:nvSpPr>
          <p:cNvPr id="18" name="">
            <a:extLst xmlns:a="http://schemas.openxmlformats.org/drawingml/2006/main">
              <a:ext uri="{FF2B5EF4-FFF2-40B4-BE49-F238E27FC236}">
                <a16:creationId xmlns:a16="http://schemas.microsoft.com/office/drawing/2014/main" id="{ECAA23F0-8D39-47E3-B458-1CDBAC060C9F}"/>
              </a:ext>
            </a:extLst>
          </p:cNvPr>
          <p:cNvSpPr>
            <a:spLocks xmlns:a="http://schemas.openxmlformats.org/drawingml/2006/main" noGrp="1"/>
          </p:cNvSpPr>
          <p:nvPr/>
        </p:nvSpPr>
        <p:spPr>
          <a:xfrm xmlns:a="http://schemas.openxmlformats.org/drawingml/2006/main">
            <a:off x="8141698" y="2247900"/>
            <a:ext cx="2808514"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DAAD72E-232A-40B3-A15A-B6F35C3E0903}"/>
              </a:ext>
            </a:extLst>
          </p:cNvPr>
          <p:cNvSpPr>
            <a:spLocks xmlns:a="http://schemas.openxmlformats.org/drawingml/2006/main" noGrp="1"/>
          </p:cNvSpPr>
          <p:nvPr/>
        </p:nvSpPr>
        <p:spPr>
          <a:xfrm xmlns:a="http://schemas.openxmlformats.org/drawingml/2006/main">
            <a:off x="8084548" y="2209800"/>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67835F6F-2E0E-4F47-B441-9D5FD009247A}"/>
              </a:ext>
            </a:extLst>
          </p:cNvPr>
          <p:cNvSpPr>
            <a:spLocks xmlns:a="http://schemas.openxmlformats.org/drawingml/2006/main" noGrp="1"/>
          </p:cNvSpPr>
          <p:nvPr/>
        </p:nvSpPr>
        <p:spPr>
          <a:xfrm xmlns:a="http://schemas.openxmlformats.org/drawingml/2006/main">
            <a:off x="10893062" y="2209800"/>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297737-AAF5-4E74-8FBC-4CE7DEFFDF56}"/>
              </a:ext>
            </a:extLst>
          </p:cNvPr>
          <p:cNvSpPr>
            <a:spLocks xmlns:a="http://schemas.openxmlformats.org/drawingml/2006/main" noGrp="1"/>
          </p:cNvSpPr>
          <p:nvPr/>
        </p:nvSpPr>
        <p:spPr>
          <a:xfrm xmlns:a="http://schemas.openxmlformats.org/drawingml/2006/main">
            <a:off x="5905500" y="24860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Belgium</a:t>
            </a:r>
          </a:p>
        </p:txBody>
      </p:sp>
      <p:sp>
        <p:nvSpPr>
          <p:cNvPr id="22" name="">
            <a:extLst xmlns:a="http://schemas.openxmlformats.org/drawingml/2006/main">
              <a:ext uri="{FF2B5EF4-FFF2-40B4-BE49-F238E27FC236}">
                <a16:creationId xmlns:a16="http://schemas.microsoft.com/office/drawing/2014/main" id="{DBE2DB49-6127-4904-8F1D-86BDEE430925}"/>
              </a:ext>
            </a:extLst>
          </p:cNvPr>
          <p:cNvSpPr>
            <a:spLocks xmlns:a="http://schemas.openxmlformats.org/drawingml/2006/main" noGrp="1"/>
          </p:cNvSpPr>
          <p:nvPr/>
        </p:nvSpPr>
        <p:spPr>
          <a:xfrm xmlns:a="http://schemas.openxmlformats.org/drawingml/2006/main">
            <a:off x="8012974" y="2581275"/>
            <a:ext cx="2714897"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6973454-CCA7-4A3C-95AC-909999C019BA}"/>
              </a:ext>
            </a:extLst>
          </p:cNvPr>
          <p:cNvSpPr>
            <a:spLocks xmlns:a="http://schemas.openxmlformats.org/drawingml/2006/main" noGrp="1"/>
          </p:cNvSpPr>
          <p:nvPr/>
        </p:nvSpPr>
        <p:spPr>
          <a:xfrm xmlns:a="http://schemas.openxmlformats.org/drawingml/2006/main">
            <a:off x="7955824" y="2543175"/>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F9585093-E24B-4FE7-A573-FD95543483F0}"/>
              </a:ext>
            </a:extLst>
          </p:cNvPr>
          <p:cNvSpPr>
            <a:spLocks xmlns:a="http://schemas.openxmlformats.org/drawingml/2006/main" noGrp="1"/>
          </p:cNvSpPr>
          <p:nvPr/>
        </p:nvSpPr>
        <p:spPr>
          <a:xfrm xmlns:a="http://schemas.openxmlformats.org/drawingml/2006/main">
            <a:off x="10670721" y="2543175"/>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DF1DE0F-0E71-4997-9B99-860562E48F78}"/>
              </a:ext>
            </a:extLst>
          </p:cNvPr>
          <p:cNvSpPr>
            <a:spLocks xmlns:a="http://schemas.openxmlformats.org/drawingml/2006/main" noGrp="1"/>
          </p:cNvSpPr>
          <p:nvPr/>
        </p:nvSpPr>
        <p:spPr>
          <a:xfrm xmlns:a="http://schemas.openxmlformats.org/drawingml/2006/main">
            <a:off x="5905500" y="2819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France</a:t>
            </a:r>
          </a:p>
        </p:txBody>
      </p:sp>
      <p:sp>
        <p:nvSpPr>
          <p:cNvPr id="26" name="">
            <a:extLst xmlns:a="http://schemas.openxmlformats.org/drawingml/2006/main">
              <a:ext uri="{FF2B5EF4-FFF2-40B4-BE49-F238E27FC236}">
                <a16:creationId xmlns:a16="http://schemas.microsoft.com/office/drawing/2014/main" id="{8157D2AF-37F4-4AEA-B86B-247500CF01B3}"/>
              </a:ext>
            </a:extLst>
          </p:cNvPr>
          <p:cNvSpPr>
            <a:spLocks xmlns:a="http://schemas.openxmlformats.org/drawingml/2006/main" noGrp="1"/>
          </p:cNvSpPr>
          <p:nvPr/>
        </p:nvSpPr>
        <p:spPr>
          <a:xfrm xmlns:a="http://schemas.openxmlformats.org/drawingml/2006/main">
            <a:off x="8516166" y="2914650"/>
            <a:ext cx="2668089"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5037D6F-820E-4E40-9723-D62C36FA6628}"/>
              </a:ext>
            </a:extLst>
          </p:cNvPr>
          <p:cNvSpPr>
            <a:spLocks xmlns:a="http://schemas.openxmlformats.org/drawingml/2006/main" noGrp="1"/>
          </p:cNvSpPr>
          <p:nvPr/>
        </p:nvSpPr>
        <p:spPr>
          <a:xfrm xmlns:a="http://schemas.openxmlformats.org/drawingml/2006/main">
            <a:off x="8459016" y="2876550"/>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0514F37C-2800-4258-AABD-10860ED49DA8}"/>
              </a:ext>
            </a:extLst>
          </p:cNvPr>
          <p:cNvSpPr>
            <a:spLocks xmlns:a="http://schemas.openxmlformats.org/drawingml/2006/main" noGrp="1"/>
          </p:cNvSpPr>
          <p:nvPr/>
        </p:nvSpPr>
        <p:spPr>
          <a:xfrm xmlns:a="http://schemas.openxmlformats.org/drawingml/2006/main">
            <a:off x="11127105" y="2876550"/>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C6CD878-E705-4F56-A95A-859810C78084}"/>
              </a:ext>
            </a:extLst>
          </p:cNvPr>
          <p:cNvSpPr>
            <a:spLocks xmlns:a="http://schemas.openxmlformats.org/drawingml/2006/main" noGrp="1"/>
          </p:cNvSpPr>
          <p:nvPr/>
        </p:nvSpPr>
        <p:spPr>
          <a:xfrm xmlns:a="http://schemas.openxmlformats.org/drawingml/2006/main">
            <a:off x="5905500" y="31527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Ireland</a:t>
            </a:r>
          </a:p>
        </p:txBody>
      </p:sp>
      <p:sp>
        <p:nvSpPr>
          <p:cNvPr id="30" name="">
            <a:extLst xmlns:a="http://schemas.openxmlformats.org/drawingml/2006/main">
              <a:ext uri="{FF2B5EF4-FFF2-40B4-BE49-F238E27FC236}">
                <a16:creationId xmlns:a16="http://schemas.microsoft.com/office/drawing/2014/main" id="{2949D6AD-5C92-4EBB-A57B-7B459344AC18}"/>
              </a:ext>
            </a:extLst>
          </p:cNvPr>
          <p:cNvSpPr>
            <a:spLocks xmlns:a="http://schemas.openxmlformats.org/drawingml/2006/main" noGrp="1"/>
          </p:cNvSpPr>
          <p:nvPr/>
        </p:nvSpPr>
        <p:spPr>
          <a:xfrm xmlns:a="http://schemas.openxmlformats.org/drawingml/2006/main">
            <a:off x="8410847" y="3248025"/>
            <a:ext cx="2668089"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DB7DBC5-95DE-4D30-B9F7-EF4FED96D536}"/>
              </a:ext>
            </a:extLst>
          </p:cNvPr>
          <p:cNvSpPr>
            <a:spLocks xmlns:a="http://schemas.openxmlformats.org/drawingml/2006/main" noGrp="1"/>
          </p:cNvSpPr>
          <p:nvPr/>
        </p:nvSpPr>
        <p:spPr>
          <a:xfrm xmlns:a="http://schemas.openxmlformats.org/drawingml/2006/main">
            <a:off x="8353697" y="3209925"/>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962B633D-2066-4BB2-819E-0BE1EA03D3D7}"/>
              </a:ext>
            </a:extLst>
          </p:cNvPr>
          <p:cNvSpPr>
            <a:spLocks xmlns:a="http://schemas.openxmlformats.org/drawingml/2006/main" noGrp="1"/>
          </p:cNvSpPr>
          <p:nvPr/>
        </p:nvSpPr>
        <p:spPr>
          <a:xfrm xmlns:a="http://schemas.openxmlformats.org/drawingml/2006/main">
            <a:off x="11021786" y="3209925"/>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1AEBBA0-E736-4DED-B821-0AA1F4985E8D}"/>
              </a:ext>
            </a:extLst>
          </p:cNvPr>
          <p:cNvSpPr>
            <a:spLocks xmlns:a="http://schemas.openxmlformats.org/drawingml/2006/main" noGrp="1"/>
          </p:cNvSpPr>
          <p:nvPr/>
        </p:nvSpPr>
        <p:spPr>
          <a:xfrm xmlns:a="http://schemas.openxmlformats.org/drawingml/2006/main">
            <a:off x="5905500" y="34861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Austria</a:t>
            </a:r>
          </a:p>
        </p:txBody>
      </p:sp>
      <p:sp>
        <p:nvSpPr>
          <p:cNvPr id="34" name="">
            <a:extLst xmlns:a="http://schemas.openxmlformats.org/drawingml/2006/main">
              <a:ext uri="{FF2B5EF4-FFF2-40B4-BE49-F238E27FC236}">
                <a16:creationId xmlns:a16="http://schemas.microsoft.com/office/drawing/2014/main" id="{5AF47375-A5EA-435A-A636-FC4C91160D0D}"/>
              </a:ext>
            </a:extLst>
          </p:cNvPr>
          <p:cNvSpPr>
            <a:spLocks xmlns:a="http://schemas.openxmlformats.org/drawingml/2006/main" noGrp="1"/>
          </p:cNvSpPr>
          <p:nvPr/>
        </p:nvSpPr>
        <p:spPr>
          <a:xfrm xmlns:a="http://schemas.openxmlformats.org/drawingml/2006/main">
            <a:off x="8270421" y="3581400"/>
            <a:ext cx="2504259"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ABAAB6C-787C-45C7-9CCB-68724950479F}"/>
              </a:ext>
            </a:extLst>
          </p:cNvPr>
          <p:cNvSpPr>
            <a:spLocks xmlns:a="http://schemas.openxmlformats.org/drawingml/2006/main" noGrp="1"/>
          </p:cNvSpPr>
          <p:nvPr/>
        </p:nvSpPr>
        <p:spPr>
          <a:xfrm xmlns:a="http://schemas.openxmlformats.org/drawingml/2006/main">
            <a:off x="8213271" y="3543300"/>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4B5846D7-D15D-4B98-A21F-9228558F4657}"/>
              </a:ext>
            </a:extLst>
          </p:cNvPr>
          <p:cNvSpPr>
            <a:spLocks xmlns:a="http://schemas.openxmlformats.org/drawingml/2006/main" noGrp="1"/>
          </p:cNvSpPr>
          <p:nvPr/>
        </p:nvSpPr>
        <p:spPr>
          <a:xfrm xmlns:a="http://schemas.openxmlformats.org/drawingml/2006/main">
            <a:off x="10717530" y="3543300"/>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5476EE-B2D5-4BC4-AA72-1672D20C8441}"/>
              </a:ext>
            </a:extLst>
          </p:cNvPr>
          <p:cNvSpPr>
            <a:spLocks xmlns:a="http://schemas.openxmlformats.org/drawingml/2006/main" noGrp="1"/>
          </p:cNvSpPr>
          <p:nvPr/>
        </p:nvSpPr>
        <p:spPr>
          <a:xfrm xmlns:a="http://schemas.openxmlformats.org/drawingml/2006/main">
            <a:off x="5905500" y="38195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Greece</a:t>
            </a:r>
          </a:p>
        </p:txBody>
      </p:sp>
      <p:sp>
        <p:nvSpPr>
          <p:cNvPr id="38" name="">
            <a:extLst xmlns:a="http://schemas.openxmlformats.org/drawingml/2006/main">
              <a:ext uri="{FF2B5EF4-FFF2-40B4-BE49-F238E27FC236}">
                <a16:creationId xmlns:a16="http://schemas.microsoft.com/office/drawing/2014/main" id="{6EA861C8-9B71-41EA-9573-F33C6EA913CC}"/>
              </a:ext>
            </a:extLst>
          </p:cNvPr>
          <p:cNvSpPr>
            <a:spLocks xmlns:a="http://schemas.openxmlformats.org/drawingml/2006/main" noGrp="1"/>
          </p:cNvSpPr>
          <p:nvPr/>
        </p:nvSpPr>
        <p:spPr>
          <a:xfrm xmlns:a="http://schemas.openxmlformats.org/drawingml/2006/main">
            <a:off x="8574677" y="3914775"/>
            <a:ext cx="2469152"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B452275-B2EA-41C3-A65C-047EF3244EF1}"/>
              </a:ext>
            </a:extLst>
          </p:cNvPr>
          <p:cNvSpPr>
            <a:spLocks xmlns:a="http://schemas.openxmlformats.org/drawingml/2006/main" noGrp="1"/>
          </p:cNvSpPr>
          <p:nvPr/>
        </p:nvSpPr>
        <p:spPr>
          <a:xfrm xmlns:a="http://schemas.openxmlformats.org/drawingml/2006/main">
            <a:off x="8517527" y="3876675"/>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4EDCDE84-2267-4553-863F-0F7DD8EEF4D8}"/>
              </a:ext>
            </a:extLst>
          </p:cNvPr>
          <p:cNvSpPr>
            <a:spLocks xmlns:a="http://schemas.openxmlformats.org/drawingml/2006/main" noGrp="1"/>
          </p:cNvSpPr>
          <p:nvPr/>
        </p:nvSpPr>
        <p:spPr>
          <a:xfrm xmlns:a="http://schemas.openxmlformats.org/drawingml/2006/main">
            <a:off x="10986679" y="3876675"/>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A76A0C3-CA83-43B4-80E6-5EE64C3294C4}"/>
              </a:ext>
            </a:extLst>
          </p:cNvPr>
          <p:cNvSpPr>
            <a:spLocks xmlns:a="http://schemas.openxmlformats.org/drawingml/2006/main" noGrp="1"/>
          </p:cNvSpPr>
          <p:nvPr/>
        </p:nvSpPr>
        <p:spPr>
          <a:xfrm xmlns:a="http://schemas.openxmlformats.org/drawingml/2006/main">
            <a:off x="5905500" y="41529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Germany</a:t>
            </a:r>
          </a:p>
        </p:txBody>
      </p:sp>
      <p:sp>
        <p:nvSpPr>
          <p:cNvPr id="42" name="">
            <a:extLst xmlns:a="http://schemas.openxmlformats.org/drawingml/2006/main">
              <a:ext uri="{FF2B5EF4-FFF2-40B4-BE49-F238E27FC236}">
                <a16:creationId xmlns:a16="http://schemas.microsoft.com/office/drawing/2014/main" id="{88186E22-80B8-4BFB-8FBC-1EFF78EF8992}"/>
              </a:ext>
            </a:extLst>
          </p:cNvPr>
          <p:cNvSpPr>
            <a:spLocks xmlns:a="http://schemas.openxmlformats.org/drawingml/2006/main" noGrp="1"/>
          </p:cNvSpPr>
          <p:nvPr/>
        </p:nvSpPr>
        <p:spPr>
          <a:xfrm xmlns:a="http://schemas.openxmlformats.org/drawingml/2006/main">
            <a:off x="8375741" y="4248150"/>
            <a:ext cx="2398939"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00FADF8-9033-4E72-83CF-E9790177FC8B}"/>
              </a:ext>
            </a:extLst>
          </p:cNvPr>
          <p:cNvSpPr>
            <a:spLocks xmlns:a="http://schemas.openxmlformats.org/drawingml/2006/main" noGrp="1"/>
          </p:cNvSpPr>
          <p:nvPr/>
        </p:nvSpPr>
        <p:spPr>
          <a:xfrm xmlns:a="http://schemas.openxmlformats.org/drawingml/2006/main">
            <a:off x="8318591" y="4210050"/>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44" name="">
            <a:extLst xmlns:a="http://schemas.openxmlformats.org/drawingml/2006/main">
              <a:ext uri="{FF2B5EF4-FFF2-40B4-BE49-F238E27FC236}">
                <a16:creationId xmlns:a16="http://schemas.microsoft.com/office/drawing/2014/main" id="{70EC5BE2-7700-4ADF-AC7D-7220447DBD1B}"/>
              </a:ext>
            </a:extLst>
          </p:cNvPr>
          <p:cNvSpPr>
            <a:spLocks xmlns:a="http://schemas.openxmlformats.org/drawingml/2006/main" noGrp="1"/>
          </p:cNvSpPr>
          <p:nvPr/>
        </p:nvSpPr>
        <p:spPr>
          <a:xfrm xmlns:a="http://schemas.openxmlformats.org/drawingml/2006/main">
            <a:off x="10717530" y="4210050"/>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1E7525A-F487-4C87-8D98-1FDAE62AA650}"/>
              </a:ext>
            </a:extLst>
          </p:cNvPr>
          <p:cNvSpPr>
            <a:spLocks xmlns:a="http://schemas.openxmlformats.org/drawingml/2006/main" noGrp="1"/>
          </p:cNvSpPr>
          <p:nvPr/>
        </p:nvSpPr>
        <p:spPr>
          <a:xfrm xmlns:a="http://schemas.openxmlformats.org/drawingml/2006/main">
            <a:off x="5905500" y="44862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0">
                <a:solidFill>
                  <a:srgbClr val="17252A"/>
                </a:solidFill>
                <a:latin typeface="Arial"/>
                <a:ea typeface="Arial"/>
                <a:cs typeface="Arial"/>
              </a:defRPr>
            </a:pPr>
            <a:r>
              <a:rPr sz="1050" b="0">
                <a:solidFill>
                  <a:srgbClr val="17252A"/>
                </a:solidFill>
                <a:latin typeface="Arial"/>
                <a:ea typeface="Arial"/>
                <a:cs typeface="Arial"/>
              </a:rPr>
              <a:t>Portugal</a:t>
            </a:r>
          </a:p>
        </p:txBody>
      </p:sp>
      <p:sp>
        <p:nvSpPr>
          <p:cNvPr id="46" name="">
            <a:extLst xmlns:a="http://schemas.openxmlformats.org/drawingml/2006/main">
              <a:ext uri="{FF2B5EF4-FFF2-40B4-BE49-F238E27FC236}">
                <a16:creationId xmlns:a16="http://schemas.microsoft.com/office/drawing/2014/main" id="{8A8FFA73-A77A-469B-9FA6-C85F2853E7DE}"/>
              </a:ext>
            </a:extLst>
          </p:cNvPr>
          <p:cNvSpPr>
            <a:spLocks xmlns:a="http://schemas.openxmlformats.org/drawingml/2006/main" noGrp="1"/>
          </p:cNvSpPr>
          <p:nvPr/>
        </p:nvSpPr>
        <p:spPr>
          <a:xfrm xmlns:a="http://schemas.openxmlformats.org/drawingml/2006/main">
            <a:off x="8703401" y="4581525"/>
            <a:ext cx="2281918" cy="38100"/>
          </a:xfrm>
          <a:prstGeom xmlns:a="http://schemas.openxmlformats.org/drawingml/2006/main" prst="rect">
            <a:avLst/>
          </a:prstGeom>
          <a:solidFill xmlns:a="http://schemas.openxmlformats.org/drawingml/2006/main">
            <a:srgbClr val="9FADA7"/>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CB2CA34-5032-4E65-9A48-99D2E1AF69A6}"/>
              </a:ext>
            </a:extLst>
          </p:cNvPr>
          <p:cNvSpPr>
            <a:spLocks xmlns:a="http://schemas.openxmlformats.org/drawingml/2006/main" noGrp="1"/>
          </p:cNvSpPr>
          <p:nvPr/>
        </p:nvSpPr>
        <p:spPr>
          <a:xfrm xmlns:a="http://schemas.openxmlformats.org/drawingml/2006/main">
            <a:off x="8646251" y="4543425"/>
            <a:ext cx="114300" cy="114300"/>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48" name="">
            <a:extLst xmlns:a="http://schemas.openxmlformats.org/drawingml/2006/main">
              <a:ext uri="{FF2B5EF4-FFF2-40B4-BE49-F238E27FC236}">
                <a16:creationId xmlns:a16="http://schemas.microsoft.com/office/drawing/2014/main" id="{E49DBAE5-777A-4C3F-B43A-8B11920B395C}"/>
              </a:ext>
            </a:extLst>
          </p:cNvPr>
          <p:cNvSpPr>
            <a:spLocks xmlns:a="http://schemas.openxmlformats.org/drawingml/2006/main" noGrp="1"/>
          </p:cNvSpPr>
          <p:nvPr/>
        </p:nvSpPr>
        <p:spPr>
          <a:xfrm xmlns:a="http://schemas.openxmlformats.org/drawingml/2006/main">
            <a:off x="10928169" y="4543425"/>
            <a:ext cx="114300" cy="114300"/>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52C3DF3-97D9-42F0-9875-6F72140B04F7}"/>
              </a:ext>
            </a:extLst>
          </p:cNvPr>
          <p:cNvSpPr>
            <a:spLocks xmlns:a="http://schemas.openxmlformats.org/drawingml/2006/main" noGrp="1"/>
          </p:cNvSpPr>
          <p:nvPr/>
        </p:nvSpPr>
        <p:spPr>
          <a:xfrm xmlns:a="http://schemas.openxmlformats.org/drawingml/2006/main">
            <a:off x="7605713" y="4881563"/>
            <a:ext cx="104775" cy="104775"/>
          </a:xfrm>
          <a:prstGeom xmlns:a="http://schemas.openxmlformats.org/drawingml/2006/main" prst="ellipse">
            <a:avLst/>
          </a:prstGeom>
          <a:solidFill xmlns:a="http://schemas.openxmlformats.org/drawingml/2006/main">
            <a:srgbClr val="138A86"/>
          </a:solidFill>
          <a:ln xmlns:a="http://schemas.openxmlformats.org/drawingml/2006/main" w="9525">
            <a:solidFill>
              <a:srgbClr val="FFFFFF"/>
            </a:solidFill>
          </a:ln>
        </p:spPr>
      </p:sp>
      <p:sp>
        <p:nvSpPr>
          <p:cNvPr id="50" name="">
            <a:extLst xmlns:a="http://schemas.openxmlformats.org/drawingml/2006/main">
              <a:ext uri="{FF2B5EF4-FFF2-40B4-BE49-F238E27FC236}">
                <a16:creationId xmlns:a16="http://schemas.microsoft.com/office/drawing/2014/main" id="{9FE4903A-EA11-440D-9ED4-D0B1366B4B1C}"/>
              </a:ext>
            </a:extLst>
          </p:cNvPr>
          <p:cNvSpPr>
            <a:spLocks xmlns:a="http://schemas.openxmlformats.org/drawingml/2006/main" noGrp="1"/>
          </p:cNvSpPr>
          <p:nvPr/>
        </p:nvSpPr>
        <p:spPr>
          <a:xfrm xmlns:a="http://schemas.openxmlformats.org/drawingml/2006/main">
            <a:off x="7762875" y="48196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607077"/>
                </a:solidFill>
                <a:latin typeface="Arial"/>
                <a:ea typeface="Arial"/>
                <a:cs typeface="Arial"/>
              </a:defRPr>
            </a:pPr>
            <a:r>
              <a:rPr sz="900" b="0">
                <a:solidFill>
                  <a:srgbClr val="607077"/>
                </a:solidFill>
                <a:latin typeface="Arial"/>
                <a:ea typeface="Arial"/>
                <a:cs typeface="Arial"/>
              </a:rPr>
              <a:t>Disposable Gini</a:t>
            </a:r>
          </a:p>
        </p:txBody>
      </p:sp>
      <p:sp>
        <p:nvSpPr>
          <p:cNvPr id="51" name="">
            <a:extLst xmlns:a="http://schemas.openxmlformats.org/drawingml/2006/main">
              <a:ext uri="{FF2B5EF4-FFF2-40B4-BE49-F238E27FC236}">
                <a16:creationId xmlns:a16="http://schemas.microsoft.com/office/drawing/2014/main" id="{4C0E248C-31DF-41DA-AE98-BFE182C1641B}"/>
              </a:ext>
            </a:extLst>
          </p:cNvPr>
          <p:cNvSpPr>
            <a:spLocks xmlns:a="http://schemas.openxmlformats.org/drawingml/2006/main" noGrp="1"/>
          </p:cNvSpPr>
          <p:nvPr/>
        </p:nvSpPr>
        <p:spPr>
          <a:xfrm xmlns:a="http://schemas.openxmlformats.org/drawingml/2006/main">
            <a:off x="9015413" y="4881563"/>
            <a:ext cx="104775" cy="104775"/>
          </a:xfrm>
          <a:prstGeom xmlns:a="http://schemas.openxmlformats.org/drawingml/2006/main" prst="ellipse">
            <a:avLst/>
          </a:prstGeom>
          <a:solidFill xmlns:a="http://schemas.openxmlformats.org/drawingml/2006/main">
            <a:srgbClr val="253B4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CB4F164-7752-4AA9-B281-05E535452854}"/>
              </a:ext>
            </a:extLst>
          </p:cNvPr>
          <p:cNvSpPr>
            <a:spLocks xmlns:a="http://schemas.openxmlformats.org/drawingml/2006/main" noGrp="1"/>
          </p:cNvSpPr>
          <p:nvPr/>
        </p:nvSpPr>
        <p:spPr>
          <a:xfrm xmlns:a="http://schemas.openxmlformats.org/drawingml/2006/main">
            <a:off x="9172575" y="48196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607077"/>
                </a:solidFill>
                <a:latin typeface="Arial"/>
                <a:ea typeface="Arial"/>
                <a:cs typeface="Arial"/>
              </a:defRPr>
            </a:pPr>
            <a:r>
              <a:rPr sz="900" b="0">
                <a:solidFill>
                  <a:srgbClr val="607077"/>
                </a:solidFill>
                <a:latin typeface="Arial"/>
                <a:ea typeface="Arial"/>
                <a:cs typeface="Arial"/>
              </a:rPr>
              <a:t>Market Gini</a:t>
            </a:r>
          </a:p>
        </p:txBody>
      </p:sp>
      <p:sp>
        <p:nvSpPr>
          <p:cNvPr id="53" name="">
            <a:extLst xmlns:a="http://schemas.openxmlformats.org/drawingml/2006/main">
              <a:ext uri="{FF2B5EF4-FFF2-40B4-BE49-F238E27FC236}">
                <a16:creationId xmlns:a16="http://schemas.microsoft.com/office/drawing/2014/main" id="{573C14CF-27F1-4894-A32E-127E18761130}"/>
              </a:ext>
            </a:extLst>
          </p:cNvPr>
          <p:cNvSpPr>
            <a:spLocks xmlns:a="http://schemas.openxmlformats.org/drawingml/2006/main" noGrp="1"/>
          </p:cNvSpPr>
          <p:nvPr/>
        </p:nvSpPr>
        <p:spPr>
          <a:xfrm xmlns:a="http://schemas.openxmlformats.org/drawingml/2006/main">
            <a:off x="552450" y="5324475"/>
            <a:ext cx="11087100" cy="9525"/>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B466D41-6101-46A2-A0C4-630706CB1004}"/>
              </a:ext>
            </a:extLst>
          </p:cNvPr>
          <p:cNvSpPr>
            <a:spLocks xmlns:a="http://schemas.openxmlformats.org/drawingml/2006/main" noGrp="1"/>
          </p:cNvSpPr>
          <p:nvPr/>
        </p:nvSpPr>
        <p:spPr>
          <a:xfrm xmlns:a="http://schemas.openxmlformats.org/drawingml/2006/main">
            <a:off x="552450" y="547687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697"/>
          </a:bodyPr>
          <a:lstStyle xmlns:a="http://schemas.openxmlformats.org/drawingml/2006/main"/>
          <a:p xmlns:a="http://schemas.openxmlformats.org/drawingml/2006/main">
            <a:pPr>
              <a:defRPr sz="1650" b="1">
                <a:solidFill>
                  <a:srgbClr val="DD6B4D"/>
                </a:solidFill>
                <a:latin typeface="Georgia"/>
                <a:ea typeface="Georgia"/>
                <a:cs typeface="Georgia"/>
              </a:defRPr>
            </a:pPr>
            <a:r>
              <a:rPr sz="1650" b="1">
                <a:solidFill>
                  <a:srgbClr val="DD6B4D"/>
                </a:solidFill>
                <a:latin typeface="Georgia"/>
                <a:ea typeface="Georgia"/>
                <a:cs typeface="Georgia"/>
              </a:rPr>
              <a:t>1</a:t>
            </a:r>
          </a:p>
        </p:txBody>
      </p:sp>
      <p:sp>
        <p:nvSpPr>
          <p:cNvPr id="55" name="">
            <a:extLst xmlns:a="http://schemas.openxmlformats.org/drawingml/2006/main">
              <a:ext uri="{FF2B5EF4-FFF2-40B4-BE49-F238E27FC236}">
                <a16:creationId xmlns:a16="http://schemas.microsoft.com/office/drawing/2014/main" id="{14CB08A7-A68E-452D-82C6-668EFC6BFF8A}"/>
              </a:ext>
            </a:extLst>
          </p:cNvPr>
          <p:cNvSpPr>
            <a:spLocks xmlns:a="http://schemas.openxmlformats.org/drawingml/2006/main" noGrp="1"/>
          </p:cNvSpPr>
          <p:nvPr/>
        </p:nvSpPr>
        <p:spPr>
          <a:xfrm xmlns:a="http://schemas.openxmlformats.org/drawingml/2006/main">
            <a:off x="876300" y="54673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7252A"/>
                </a:solidFill>
                <a:latin typeface="Arial"/>
                <a:ea typeface="Arial"/>
                <a:cs typeface="Arial"/>
              </a:defRPr>
            </a:pPr>
            <a:r>
              <a:rPr sz="1125" b="1">
                <a:solidFill>
                  <a:srgbClr val="17252A"/>
                </a:solidFill>
                <a:latin typeface="Arial"/>
                <a:ea typeface="Arial"/>
                <a:cs typeface="Arial"/>
              </a:rPr>
              <a:t>Direct comparison</a:t>
            </a:r>
          </a:p>
        </p:txBody>
      </p:sp>
      <p:sp>
        <p:nvSpPr>
          <p:cNvPr id="56" name="">
            <a:extLst xmlns:a="http://schemas.openxmlformats.org/drawingml/2006/main">
              <a:ext uri="{FF2B5EF4-FFF2-40B4-BE49-F238E27FC236}">
                <a16:creationId xmlns:a16="http://schemas.microsoft.com/office/drawing/2014/main" id="{480F7A9B-80D8-42B8-83C0-AF17DB46E738}"/>
              </a:ext>
            </a:extLst>
          </p:cNvPr>
          <p:cNvSpPr>
            <a:spLocks xmlns:a="http://schemas.openxmlformats.org/drawingml/2006/main" noGrp="1"/>
          </p:cNvSpPr>
          <p:nvPr/>
        </p:nvSpPr>
        <p:spPr>
          <a:xfrm xmlns:a="http://schemas.openxmlformats.org/drawingml/2006/main">
            <a:off x="876300" y="5724525"/>
            <a:ext cx="300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0">
                <a:solidFill>
                  <a:srgbClr val="607077"/>
                </a:solidFill>
                <a:latin typeface="Arial"/>
                <a:ea typeface="Arial"/>
                <a:cs typeface="Arial"/>
              </a:defRPr>
            </a:pPr>
            <a:r>
              <a:rPr sz="975" b="0">
                <a:solidFill>
                  <a:srgbClr val="607077"/>
                </a:solidFill>
                <a:latin typeface="Arial"/>
                <a:ea typeface="Arial"/>
                <a:cs typeface="Arial"/>
              </a:rPr>
              <a:t>Connector length shows the Gini reduction on one shared scale.</a:t>
            </a:r>
          </a:p>
        </p:txBody>
      </p:sp>
      <p:sp>
        <p:nvSpPr>
          <p:cNvPr id="57" name="">
            <a:extLst xmlns:a="http://schemas.openxmlformats.org/drawingml/2006/main">
              <a:ext uri="{FF2B5EF4-FFF2-40B4-BE49-F238E27FC236}">
                <a16:creationId xmlns:a16="http://schemas.microsoft.com/office/drawing/2014/main" id="{18257EAF-B8E8-4C29-96E3-F71E6C0C5DB4}"/>
              </a:ext>
            </a:extLst>
          </p:cNvPr>
          <p:cNvSpPr>
            <a:spLocks xmlns:a="http://schemas.openxmlformats.org/drawingml/2006/main" noGrp="1"/>
          </p:cNvSpPr>
          <p:nvPr/>
        </p:nvSpPr>
        <p:spPr>
          <a:xfrm xmlns:a="http://schemas.openxmlformats.org/drawingml/2006/main">
            <a:off x="3981450" y="5505450"/>
            <a:ext cx="9525" cy="590550"/>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4752D2E-566B-4790-AE0B-DDB9B7839680}"/>
              </a:ext>
            </a:extLst>
          </p:cNvPr>
          <p:cNvSpPr>
            <a:spLocks xmlns:a="http://schemas.openxmlformats.org/drawingml/2006/main" noGrp="1"/>
          </p:cNvSpPr>
          <p:nvPr/>
        </p:nvSpPr>
        <p:spPr>
          <a:xfrm xmlns:a="http://schemas.openxmlformats.org/drawingml/2006/main">
            <a:off x="4238625" y="547687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52"/>
          </a:bodyPr>
          <a:lstStyle xmlns:a="http://schemas.openxmlformats.org/drawingml/2006/main"/>
          <a:p xmlns:a="http://schemas.openxmlformats.org/drawingml/2006/main">
            <a:pPr>
              <a:defRPr sz="1650" b="1">
                <a:solidFill>
                  <a:srgbClr val="DD6B4D"/>
                </a:solidFill>
                <a:latin typeface="Georgia"/>
                <a:ea typeface="Georgia"/>
                <a:cs typeface="Georgia"/>
              </a:defRPr>
            </a:pPr>
            <a:r>
              <a:rPr sz="1650" b="1">
                <a:solidFill>
                  <a:srgbClr val="DD6B4D"/>
                </a:solidFill>
                <a:latin typeface="Georgia"/>
                <a:ea typeface="Georgia"/>
                <a:cs typeface="Georgia"/>
              </a:rPr>
              <a:t>2</a:t>
            </a:r>
          </a:p>
        </p:txBody>
      </p:sp>
      <p:sp>
        <p:nvSpPr>
          <p:cNvPr id="59" name="">
            <a:extLst xmlns:a="http://schemas.openxmlformats.org/drawingml/2006/main">
              <a:ext uri="{FF2B5EF4-FFF2-40B4-BE49-F238E27FC236}">
                <a16:creationId xmlns:a16="http://schemas.microsoft.com/office/drawing/2014/main" id="{7AF37546-9D7A-4847-8D1B-4B52E6EDCE23}"/>
              </a:ext>
            </a:extLst>
          </p:cNvPr>
          <p:cNvSpPr>
            <a:spLocks xmlns:a="http://schemas.openxmlformats.org/drawingml/2006/main" noGrp="1"/>
          </p:cNvSpPr>
          <p:nvPr/>
        </p:nvSpPr>
        <p:spPr>
          <a:xfrm xmlns:a="http://schemas.openxmlformats.org/drawingml/2006/main">
            <a:off x="4562475" y="54673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7252A"/>
                </a:solidFill>
                <a:latin typeface="Arial"/>
                <a:ea typeface="Arial"/>
                <a:cs typeface="Arial"/>
              </a:defRPr>
            </a:pPr>
            <a:r>
              <a:rPr sz="1125" b="1">
                <a:solidFill>
                  <a:srgbClr val="17252A"/>
                </a:solidFill>
                <a:latin typeface="Arial"/>
                <a:ea typeface="Arial"/>
                <a:cs typeface="Arial"/>
              </a:rPr>
              <a:t>Complete identification</a:t>
            </a:r>
          </a:p>
        </p:txBody>
      </p:sp>
      <p:sp>
        <p:nvSpPr>
          <p:cNvPr id="60" name="">
            <a:extLst xmlns:a="http://schemas.openxmlformats.org/drawingml/2006/main">
              <a:ext uri="{FF2B5EF4-FFF2-40B4-BE49-F238E27FC236}">
                <a16:creationId xmlns:a16="http://schemas.microsoft.com/office/drawing/2014/main" id="{9450ED9B-E405-4D19-A1BA-F77DB3E03E61}"/>
              </a:ext>
            </a:extLst>
          </p:cNvPr>
          <p:cNvSpPr>
            <a:spLocks xmlns:a="http://schemas.openxmlformats.org/drawingml/2006/main" noGrp="1"/>
          </p:cNvSpPr>
          <p:nvPr/>
        </p:nvSpPr>
        <p:spPr>
          <a:xfrm xmlns:a="http://schemas.openxmlformats.org/drawingml/2006/main">
            <a:off x="4562475" y="5724525"/>
            <a:ext cx="300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0">
                <a:solidFill>
                  <a:srgbClr val="607077"/>
                </a:solidFill>
                <a:latin typeface="Arial"/>
                <a:ea typeface="Arial"/>
                <a:cs typeface="Arial"/>
              </a:defRPr>
            </a:pPr>
            <a:r>
              <a:rPr sz="975" b="0">
                <a:solidFill>
                  <a:srgbClr val="607077"/>
                </a:solidFill>
                <a:latin typeface="Arial"/>
                <a:ea typeface="Arial"/>
                <a:cs typeface="Arial"/>
              </a:rPr>
              <a:t>Every country receives a label and can be sorted or filtered.</a:t>
            </a:r>
          </a:p>
        </p:txBody>
      </p:sp>
      <p:sp>
        <p:nvSpPr>
          <p:cNvPr id="61" name="">
            <a:extLst xmlns:a="http://schemas.openxmlformats.org/drawingml/2006/main">
              <a:ext uri="{FF2B5EF4-FFF2-40B4-BE49-F238E27FC236}">
                <a16:creationId xmlns:a16="http://schemas.microsoft.com/office/drawing/2014/main" id="{33E6EF38-7F5C-4BFF-B014-0A4C50B7FD5D}"/>
              </a:ext>
            </a:extLst>
          </p:cNvPr>
          <p:cNvSpPr>
            <a:spLocks xmlns:a="http://schemas.openxmlformats.org/drawingml/2006/main" noGrp="1"/>
          </p:cNvSpPr>
          <p:nvPr/>
        </p:nvSpPr>
        <p:spPr>
          <a:xfrm xmlns:a="http://schemas.openxmlformats.org/drawingml/2006/main">
            <a:off x="7667625" y="5505450"/>
            <a:ext cx="9525" cy="590550"/>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46058A0F-E63A-4DF5-9325-20A518612498}"/>
              </a:ext>
            </a:extLst>
          </p:cNvPr>
          <p:cNvSpPr>
            <a:spLocks xmlns:a="http://schemas.openxmlformats.org/drawingml/2006/main" noGrp="1"/>
          </p:cNvSpPr>
          <p:nvPr/>
        </p:nvSpPr>
        <p:spPr>
          <a:xfrm xmlns:a="http://schemas.openxmlformats.org/drawingml/2006/main">
            <a:off x="7924800" y="547687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48"/>
          </a:bodyPr>
          <a:lstStyle xmlns:a="http://schemas.openxmlformats.org/drawingml/2006/main"/>
          <a:p xmlns:a="http://schemas.openxmlformats.org/drawingml/2006/main">
            <a:pPr>
              <a:defRPr sz="1650" b="1">
                <a:solidFill>
                  <a:srgbClr val="DD6B4D"/>
                </a:solidFill>
                <a:latin typeface="Georgia"/>
                <a:ea typeface="Georgia"/>
                <a:cs typeface="Georgia"/>
              </a:defRPr>
            </a:pPr>
            <a:r>
              <a:rPr sz="1650" b="1">
                <a:solidFill>
                  <a:srgbClr val="DD6B4D"/>
                </a:solidFill>
                <a:latin typeface="Georgia"/>
                <a:ea typeface="Georgia"/>
                <a:cs typeface="Georgia"/>
              </a:rPr>
              <a:t>3</a:t>
            </a:r>
          </a:p>
        </p:txBody>
      </p:sp>
      <p:sp>
        <p:nvSpPr>
          <p:cNvPr id="63" name="">
            <a:extLst xmlns:a="http://schemas.openxmlformats.org/drawingml/2006/main">
              <a:ext uri="{FF2B5EF4-FFF2-40B4-BE49-F238E27FC236}">
                <a16:creationId xmlns:a16="http://schemas.microsoft.com/office/drawing/2014/main" id="{2555F9CC-4775-4292-9D1C-B6810EEDE1A0}"/>
              </a:ext>
            </a:extLst>
          </p:cNvPr>
          <p:cNvSpPr>
            <a:spLocks xmlns:a="http://schemas.openxmlformats.org/drawingml/2006/main" noGrp="1"/>
          </p:cNvSpPr>
          <p:nvPr/>
        </p:nvSpPr>
        <p:spPr>
          <a:xfrm xmlns:a="http://schemas.openxmlformats.org/drawingml/2006/main">
            <a:off x="8248650" y="54673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7252A"/>
                </a:solidFill>
                <a:latin typeface="Arial"/>
                <a:ea typeface="Arial"/>
                <a:cs typeface="Arial"/>
              </a:defRPr>
            </a:pPr>
            <a:r>
              <a:rPr sz="1125" b="1">
                <a:solidFill>
                  <a:srgbClr val="17252A"/>
                </a:solidFill>
                <a:latin typeface="Arial"/>
                <a:ea typeface="Arial"/>
                <a:cs typeface="Arial"/>
              </a:rPr>
              <a:t>Visible limitation</a:t>
            </a:r>
          </a:p>
        </p:txBody>
      </p:sp>
      <p:sp>
        <p:nvSpPr>
          <p:cNvPr id="64" name="">
            <a:extLst xmlns:a="http://schemas.openxmlformats.org/drawingml/2006/main">
              <a:ext uri="{FF2B5EF4-FFF2-40B4-BE49-F238E27FC236}">
                <a16:creationId xmlns:a16="http://schemas.microsoft.com/office/drawing/2014/main" id="{0101AC38-3E40-4B32-BB96-D2014A1B2CAB}"/>
              </a:ext>
            </a:extLst>
          </p:cNvPr>
          <p:cNvSpPr>
            <a:spLocks xmlns:a="http://schemas.openxmlformats.org/drawingml/2006/main" noGrp="1"/>
          </p:cNvSpPr>
          <p:nvPr/>
        </p:nvSpPr>
        <p:spPr>
          <a:xfrm xmlns:a="http://schemas.openxmlformats.org/drawingml/2006/main">
            <a:off x="8248650" y="5724525"/>
            <a:ext cx="300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0">
                <a:solidFill>
                  <a:srgbClr val="607077"/>
                </a:solidFill>
                <a:latin typeface="Arial"/>
                <a:ea typeface="Arial"/>
                <a:cs typeface="Arial"/>
              </a:defRPr>
            </a:pPr>
            <a:r>
              <a:rPr sz="975" b="0">
                <a:solidFill>
                  <a:srgbClr val="607077"/>
                </a:solidFill>
                <a:latin typeface="Arial"/>
                <a:ea typeface="Arial"/>
                <a:cs typeface="Arial"/>
              </a:rPr>
              <a:t>The interface reports each observation year, which ranges from 2011 to 2020.</a:t>
            </a:r>
          </a:p>
        </p:txBody>
      </p:sp>
      <p:sp>
        <p:nvSpPr>
          <p:cNvPr id="65" name="">
            <a:extLst xmlns:a="http://schemas.openxmlformats.org/drawingml/2006/main">
              <a:ext uri="{FF2B5EF4-FFF2-40B4-BE49-F238E27FC236}">
                <a16:creationId xmlns:a16="http://schemas.microsoft.com/office/drawing/2014/main" id="{142DAD6E-9856-4141-8010-CCB8D42527F2}"/>
              </a:ext>
            </a:extLst>
          </p:cNvPr>
          <p:cNvSpPr>
            <a:spLocks xmlns:a="http://schemas.openxmlformats.org/drawingml/2006/main" noGrp="1"/>
          </p:cNvSpPr>
          <p:nvPr/>
        </p:nvSpPr>
        <p:spPr>
          <a:xfrm xmlns:a="http://schemas.openxmlformats.org/drawingml/2006/main">
            <a:off x="552450" y="64198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07077"/>
                </a:solidFill>
                <a:latin typeface="Arial"/>
                <a:ea typeface="Arial"/>
                <a:cs typeface="Arial"/>
              </a:defRPr>
            </a:pPr>
            <a:r>
              <a:rPr sz="750" b="0">
                <a:solidFill>
                  <a:srgbClr val="607077"/>
                </a:solidFill>
                <a:latin typeface="Arial"/>
                <a:ea typeface="Arial"/>
                <a:cs typeface="Arial"/>
              </a:rPr>
              <a:t>Source: Our World in Data, based on Wang, Caminada, and Solt (2016).</a:t>
            </a:r>
          </a:p>
        </p:txBody>
      </p:sp>
    </p:spTree>
    <p:extLst>
      <p:ext uri="{BB962C8B-B14F-4D97-AF65-F5344CB8AC3E}">
        <p14:creationId xmlns:p14="http://schemas.microsoft.com/office/powerpoint/2010/main" val="1544987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2026-09-27T13:38:12.1520000Z</dcterms:created>
  <dcterms:modified xsi:type="dcterms:W3CDTF">2026-09-27T13:38:12.1530000Z</dcterms:modified>
</coreProperties>
</file>